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1" d="100"/>
          <a:sy n="81" d="100"/>
        </p:scale>
        <p:origin x="658" y="5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3429001"/>
            <a:ext cx="4707063" cy="1574496"/>
          </a:xfrm>
        </p:spPr>
        <p:txBody>
          <a:bodyPr>
            <a:normAutofit/>
          </a:bodyPr>
          <a:lstStyle/>
          <a:p>
            <a:pPr algn="ctr"/>
            <a:r>
              <a:rPr lang="en-US" b="0" dirty="0">
                <a:solidFill>
                  <a:schemeClr val="tx1"/>
                </a:solidFill>
              </a:rPr>
              <a:t>Mohammad Tausif</a:t>
            </a:r>
          </a:p>
          <a:p>
            <a:pPr algn="ctr"/>
            <a:r>
              <a:rPr lang="en-US" b="0" dirty="0">
                <a:solidFill>
                  <a:schemeClr val="tx1"/>
                </a:solidFill>
              </a:rPr>
              <a:t>INTERNSHIP_17546440516895be537820f</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147034" y="2050553"/>
            <a:ext cx="6881567" cy="1456218"/>
          </a:xfrm>
        </p:spPr>
        <p:txBody>
          <a:bodyPr>
            <a:noAutofit/>
          </a:bodyPr>
          <a:lstStyle/>
          <a:p>
            <a:br>
              <a:rPr lang="en-GB" sz="3600" dirty="0"/>
            </a:br>
            <a:r>
              <a:rPr lang="en-GB" sz="3600" dirty="0"/>
              <a:t>Airbnb Hotel Booking Analysis</a:t>
            </a:r>
            <a:endParaRPr lang="en-IN" sz="36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2055043"/>
            <a:ext cx="6995604" cy="3428500"/>
          </a:xfrm>
        </p:spPr>
        <p:txBody>
          <a:bodyPr>
            <a:normAutofit fontScale="70000" lnSpcReduction="20000"/>
          </a:bodyPr>
          <a:lstStyle/>
          <a:p>
            <a:pPr>
              <a:lnSpc>
                <a:spcPct val="150000"/>
              </a:lnSpc>
            </a:pPr>
            <a:r>
              <a:rPr lang="en-US" sz="2800" dirty="0"/>
              <a:t>Airbnb is a popular platform where property owners rent out their homes or apartments to travelers. One of the biggest challenges for hosts is deciding the right price for their listings, since prices vary depending on several factors such as the number of bedrooms, number of bathrooms, cleanliness, accuracy of descriptions, and communication quality with guests.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058636" cy="1033014"/>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91822433-FD42-0899-4054-D5E2DB507FBA}"/>
              </a:ext>
            </a:extLst>
          </p:cNvPr>
          <p:cNvSpPr txBox="1"/>
          <p:nvPr/>
        </p:nvSpPr>
        <p:spPr>
          <a:xfrm>
            <a:off x="737541" y="2130458"/>
            <a:ext cx="8104801"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t>Data Cleaning &amp; Preprocessing: </a:t>
            </a:r>
            <a:r>
              <a:rPr lang="en-US" dirty="0"/>
              <a:t>We handled missing values, corrected data types, and removed duplicates to ensure the integrity and accuracy of our analysis.</a:t>
            </a:r>
          </a:p>
          <a:p>
            <a:pPr marL="285750" indent="-285750">
              <a:buFont typeface="Arial" panose="020B0604020202020204" pitchFamily="34" charset="0"/>
              <a:buChar char="•"/>
            </a:pPr>
            <a:r>
              <a:rPr lang="en-US" b="1" dirty="0"/>
              <a:t>Exploratory Data Analysis (EDA): </a:t>
            </a:r>
            <a:r>
              <a:rPr lang="en-US" dirty="0"/>
              <a:t>We investigated the dataset to uncover patterns related to:</a:t>
            </a:r>
          </a:p>
          <a:p>
            <a:pPr marL="285750" indent="-285750">
              <a:buFont typeface="Arial" panose="020B0604020202020204" pitchFamily="34" charset="0"/>
              <a:buChar char="•"/>
            </a:pPr>
            <a:r>
              <a:rPr lang="en-US" b="1" dirty="0"/>
              <a:t>Geographical Distribution</a:t>
            </a:r>
            <a:r>
              <a:rPr lang="en-US" dirty="0"/>
              <a:t>: Identified which boroughs and  neighborhoods dominate the market.</a:t>
            </a:r>
          </a:p>
          <a:p>
            <a:pPr marL="285750" indent="-285750">
              <a:buFont typeface="Arial" panose="020B0604020202020204" pitchFamily="34" charset="0"/>
              <a:buChar char="•"/>
            </a:pPr>
            <a:r>
              <a:rPr lang="en-US" b="1" dirty="0"/>
              <a:t>Pricing Insights</a:t>
            </a:r>
            <a:r>
              <a:rPr lang="en-US" dirty="0"/>
              <a:t>: Analyzed price variations by location and room type.</a:t>
            </a:r>
          </a:p>
          <a:p>
            <a:pPr marL="285750" indent="-285750">
              <a:buFont typeface="Arial" panose="020B0604020202020204" pitchFamily="34" charset="0"/>
              <a:buChar char="•"/>
            </a:pPr>
            <a:r>
              <a:rPr lang="en-US" b="1" dirty="0"/>
              <a:t>Market Composition</a:t>
            </a:r>
            <a:r>
              <a:rPr lang="en-US" dirty="0"/>
              <a:t>: Determined the most common types of listings available.</a:t>
            </a:r>
          </a:p>
          <a:p>
            <a:pPr marL="285750" indent="-285750">
              <a:buFont typeface="Arial" panose="020B0604020202020204" pitchFamily="34" charset="0"/>
              <a:buChar char="•"/>
            </a:pPr>
            <a:r>
              <a:rPr lang="en-US" b="1" dirty="0"/>
              <a:t>Visualization &amp; Dashboarding</a:t>
            </a:r>
            <a:r>
              <a:rPr lang="en-US" dirty="0"/>
              <a:t>: We created a series of clear visualizations (charts, graphs, and maps) and developed an interactive dashboard to present our findings in an accessible and engaging way.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49639" y="1679258"/>
            <a:ext cx="8460349" cy="4608419"/>
          </a:xfrm>
        </p:spPr>
        <p:txBody>
          <a:bodyPr>
            <a:normAutofit lnSpcReduction="10000"/>
          </a:bodyPr>
          <a:lstStyle/>
          <a:p>
            <a:r>
              <a:rPr lang="en-US" b="1" dirty="0"/>
              <a:t>Travelers &amp; Tourists:</a:t>
            </a:r>
            <a:endParaRPr lang="en-US" dirty="0"/>
          </a:p>
          <a:p>
            <a:pPr lvl="1"/>
            <a:r>
              <a:rPr lang="en-US" dirty="0"/>
              <a:t>Can make informed, budget-conscious decisions on where to stay.</a:t>
            </a:r>
          </a:p>
          <a:p>
            <a:pPr lvl="1"/>
            <a:r>
              <a:rPr lang="en-US" dirty="0"/>
              <a:t>Can better understand the types of accommodations available in different parts of the city.</a:t>
            </a:r>
          </a:p>
          <a:p>
            <a:r>
              <a:rPr lang="en-US" b="1" dirty="0"/>
              <a:t>Current &amp; Aspiring Airbnb Hosts:</a:t>
            </a:r>
            <a:endParaRPr lang="en-US" dirty="0"/>
          </a:p>
          <a:p>
            <a:pPr lvl="1"/>
            <a:r>
              <a:rPr lang="en-US" dirty="0"/>
              <a:t>Can develop competitive pricing strategies based on market data.</a:t>
            </a:r>
          </a:p>
          <a:p>
            <a:pPr lvl="1"/>
            <a:r>
              <a:rPr lang="en-US" dirty="0"/>
              <a:t>Can identify opportunities in underserved neighborhoods or with specific room types.</a:t>
            </a:r>
          </a:p>
          <a:p>
            <a:r>
              <a:rPr lang="en-US" b="1" dirty="0"/>
              <a:t>Market Analysts &amp; Researchers:</a:t>
            </a:r>
            <a:endParaRPr lang="en-US" dirty="0"/>
          </a:p>
          <a:p>
            <a:pPr lvl="1"/>
            <a:r>
              <a:rPr lang="en-US" dirty="0"/>
              <a:t>Can use the findings to study urban tourism and the impact of the sharing economy.</a:t>
            </a:r>
          </a:p>
          <a:p>
            <a:pPr lvl="1"/>
            <a:r>
              <a:rPr lang="en-US" dirty="0"/>
              <a:t>Can leverage the cleaned dataset for more advanced predictive modeling.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fade">
                                      <p:cBhvr>
                                        <p:cTn id="24" dur="1000"/>
                                        <p:tgtEl>
                                          <p:spTgt spid="2">
                                            <p:txEl>
                                              <p:pRg st="2" end="2"/>
                                            </p:txEl>
                                          </p:spTgt>
                                        </p:tgtEl>
                                      </p:cBhvr>
                                    </p:animEffect>
                                    <p:anim calcmode="lin" valueType="num">
                                      <p:cBhvr>
                                        <p:cTn id="2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1000"/>
                                        <p:tgtEl>
                                          <p:spTgt spid="2">
                                            <p:txEl>
                                              <p:pRg st="3" end="3"/>
                                            </p:txEl>
                                          </p:spTgt>
                                        </p:tgtEl>
                                      </p:cBhvr>
                                    </p:animEffect>
                                    <p:anim calcmode="lin" valueType="num">
                                      <p:cBhvr>
                                        <p:cTn id="3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fade">
                                      <p:cBhvr>
                                        <p:cTn id="36" dur="1000"/>
                                        <p:tgtEl>
                                          <p:spTgt spid="2">
                                            <p:txEl>
                                              <p:pRg st="4" end="4"/>
                                            </p:txEl>
                                          </p:spTgt>
                                        </p:tgtEl>
                                      </p:cBhvr>
                                    </p:animEffect>
                                    <p:anim calcmode="lin" valueType="num">
                                      <p:cBhvr>
                                        <p:cTn id="3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animEffect transition="in" filter="fade">
                                      <p:cBhvr>
                                        <p:cTn id="41" dur="1000"/>
                                        <p:tgtEl>
                                          <p:spTgt spid="2">
                                            <p:txEl>
                                              <p:pRg st="5" end="5"/>
                                            </p:txEl>
                                          </p:spTgt>
                                        </p:tgtEl>
                                      </p:cBhvr>
                                    </p:animEffect>
                                    <p:anim calcmode="lin" valueType="num">
                                      <p:cBhvr>
                                        <p:cTn id="4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
                                            <p:txEl>
                                              <p:pRg st="6" end="6"/>
                                            </p:txEl>
                                          </p:spTgt>
                                        </p:tgtEl>
                                        <p:attrNameLst>
                                          <p:attrName>style.visibility</p:attrName>
                                        </p:attrNameLst>
                                      </p:cBhvr>
                                      <p:to>
                                        <p:strVal val="visible"/>
                                      </p:to>
                                    </p:set>
                                    <p:animEffect transition="in" filter="fade">
                                      <p:cBhvr>
                                        <p:cTn id="48" dur="1000"/>
                                        <p:tgtEl>
                                          <p:spTgt spid="2">
                                            <p:txEl>
                                              <p:pRg st="6" end="6"/>
                                            </p:txEl>
                                          </p:spTgt>
                                        </p:tgtEl>
                                      </p:cBhvr>
                                    </p:animEffect>
                                    <p:anim calcmode="lin" valueType="num">
                                      <p:cBhvr>
                                        <p:cTn id="4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6" end="6"/>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
                                            <p:txEl>
                                              <p:pRg st="7" end="7"/>
                                            </p:txEl>
                                          </p:spTgt>
                                        </p:tgtEl>
                                        <p:attrNameLst>
                                          <p:attrName>style.visibility</p:attrName>
                                        </p:attrNameLst>
                                      </p:cBhvr>
                                      <p:to>
                                        <p:strVal val="visible"/>
                                      </p:to>
                                    </p:set>
                                    <p:animEffect transition="in" filter="fade">
                                      <p:cBhvr>
                                        <p:cTn id="53" dur="1000"/>
                                        <p:tgtEl>
                                          <p:spTgt spid="2">
                                            <p:txEl>
                                              <p:pRg st="7" end="7"/>
                                            </p:txEl>
                                          </p:spTgt>
                                        </p:tgtEl>
                                      </p:cBhvr>
                                    </p:animEffect>
                                    <p:anim calcmode="lin" valueType="num">
                                      <p:cBhvr>
                                        <p:cTn id="5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5" dur="1000" fill="hold"/>
                                        <p:tgtEl>
                                          <p:spTgt spid="2">
                                            <p:txEl>
                                              <p:pRg st="7" end="7"/>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
                                            <p:txEl>
                                              <p:pRg st="8" end="8"/>
                                            </p:txEl>
                                          </p:spTgt>
                                        </p:tgtEl>
                                        <p:attrNameLst>
                                          <p:attrName>style.visibility</p:attrName>
                                        </p:attrNameLst>
                                      </p:cBhvr>
                                      <p:to>
                                        <p:strVal val="visible"/>
                                      </p:to>
                                    </p:set>
                                    <p:animEffect transition="in" filter="fade">
                                      <p:cBhvr>
                                        <p:cTn id="58" dur="1000"/>
                                        <p:tgtEl>
                                          <p:spTgt spid="2">
                                            <p:txEl>
                                              <p:pRg st="8" end="8"/>
                                            </p:txEl>
                                          </p:spTgt>
                                        </p:tgtEl>
                                      </p:cBhvr>
                                    </p:animEffect>
                                    <p:anim calcmode="lin" valueType="num">
                                      <p:cBhvr>
                                        <p:cTn id="59"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11984" y="1432560"/>
            <a:ext cx="7806336" cy="4214096"/>
          </a:xfrm>
        </p:spPr>
        <p:txBody>
          <a:bodyPr>
            <a:normAutofit fontScale="92500" lnSpcReduction="20000"/>
          </a:bodyPr>
          <a:lstStyle/>
          <a:p>
            <a:r>
              <a:rPr lang="en-US" b="1" dirty="0"/>
              <a:t>Python:</a:t>
            </a:r>
            <a:r>
              <a:rPr lang="en-US" dirty="0"/>
              <a:t> The core programming language for the analysis.</a:t>
            </a:r>
          </a:p>
          <a:p>
            <a:r>
              <a:rPr lang="en-US" b="1" dirty="0"/>
              <a:t>Pandas:</a:t>
            </a:r>
            <a:r>
              <a:rPr lang="en-US" dirty="0"/>
              <a:t> The primary library for high-performance data manipulation and cleaning.</a:t>
            </a:r>
          </a:p>
          <a:p>
            <a:r>
              <a:rPr lang="en-US" b="1" dirty="0"/>
              <a:t>Matplotlib &amp; Seaborn:</a:t>
            </a:r>
            <a:r>
              <a:rPr lang="en-US" dirty="0"/>
              <a:t> Used for creating static, high-quality data visualizations like bar charts, histograms, and heatmaps.</a:t>
            </a:r>
          </a:p>
          <a:p>
            <a:r>
              <a:rPr lang="en-US" b="1" dirty="0" err="1"/>
              <a:t>Plotly</a:t>
            </a:r>
            <a:r>
              <a:rPr lang="en-US" b="1" dirty="0"/>
              <a:t>:</a:t>
            </a:r>
            <a:r>
              <a:rPr lang="en-US" dirty="0"/>
              <a:t> Leveraged for creating interactive charts within the dashboard.</a:t>
            </a:r>
          </a:p>
          <a:p>
            <a:r>
              <a:rPr lang="en-US" b="1" dirty="0" err="1"/>
              <a:t>Streamlit</a:t>
            </a:r>
            <a:r>
              <a:rPr lang="en-US" b="1" dirty="0"/>
              <a:t>:</a:t>
            </a:r>
            <a:r>
              <a:rPr lang="en-US" dirty="0"/>
              <a:t> The framework used to rapidly build and deploy the interactive web-based dashboard.</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F8FE34DB-87A5-96D7-A4B3-F895703043BE}"/>
              </a:ext>
            </a:extLst>
          </p:cNvPr>
          <p:cNvPicPr>
            <a:picLocks noChangeAspect="1"/>
          </p:cNvPicPr>
          <p:nvPr/>
        </p:nvPicPr>
        <p:blipFill>
          <a:blip r:embed="rId3"/>
          <a:stretch>
            <a:fillRect/>
          </a:stretch>
        </p:blipFill>
        <p:spPr>
          <a:xfrm>
            <a:off x="320982" y="1298107"/>
            <a:ext cx="8400475" cy="536685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4F0609D-325A-6CFC-7512-0C94EDABEB7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EF3C708A-A0C9-A715-1A5B-D9E1509409E0}"/>
              </a:ext>
            </a:extLst>
          </p:cNvPr>
          <p:cNvPicPr>
            <a:picLocks noChangeAspect="1"/>
          </p:cNvPicPr>
          <p:nvPr/>
        </p:nvPicPr>
        <p:blipFill>
          <a:blip r:embed="rId3"/>
          <a:stretch>
            <a:fillRect/>
          </a:stretch>
        </p:blipFill>
        <p:spPr>
          <a:xfrm>
            <a:off x="675957" y="1252540"/>
            <a:ext cx="8438416" cy="5173813"/>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C3286AD-B268-E75A-C390-BA89A4EE73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4F225EEA-AC96-6070-27B8-1693A6744238}"/>
              </a:ext>
            </a:extLst>
          </p:cNvPr>
          <p:cNvPicPr>
            <a:picLocks noChangeAspect="1"/>
          </p:cNvPicPr>
          <p:nvPr/>
        </p:nvPicPr>
        <p:blipFill>
          <a:blip r:embed="rId3"/>
          <a:stretch>
            <a:fillRect/>
          </a:stretch>
        </p:blipFill>
        <p:spPr>
          <a:xfrm>
            <a:off x="754388" y="1201586"/>
            <a:ext cx="8655828" cy="5596093"/>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E6ED231-AB91-2C33-0439-AEAC41FE728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609201" y="2675926"/>
            <a:ext cx="9458626" cy="2553970"/>
          </a:xfrm>
        </p:spPr>
        <p:txBody>
          <a:bodyPr vert="horz" lIns="91440" tIns="45720" rIns="91440" bIns="45720" rtlCol="0" anchor="t">
            <a:normAutofit/>
          </a:bodyPr>
          <a:lstStyle/>
          <a:p>
            <a:pPr marL="0" indent="0">
              <a:buNone/>
            </a:pPr>
            <a:r>
              <a:rPr lang="en-US" dirty="0"/>
              <a:t>https://github.com/whoistausif/VOIS_AICTE_Oct2025_MOHAMMAD_TAUSIF</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graphicFrame>
        <p:nvGraphicFramePr>
          <p:cNvPr id="2" name="Object 1">
            <a:extLst>
              <a:ext uri="{FF2B5EF4-FFF2-40B4-BE49-F238E27FC236}">
                <a16:creationId xmlns:a16="http://schemas.microsoft.com/office/drawing/2014/main" id="{E645CA49-97CA-F3DA-E450-062530362DDF}"/>
              </a:ext>
            </a:extLst>
          </p:cNvPr>
          <p:cNvGraphicFramePr>
            <a:graphicFrameLocks noChangeAspect="1"/>
          </p:cNvGraphicFramePr>
          <p:nvPr>
            <p:extLst>
              <p:ext uri="{D42A27DB-BD31-4B8C-83A1-F6EECF244321}">
                <p14:modId xmlns:p14="http://schemas.microsoft.com/office/powerpoint/2010/main" val="2288183204"/>
              </p:ext>
            </p:extLst>
          </p:nvPr>
        </p:nvGraphicFramePr>
        <p:xfrm>
          <a:off x="675957" y="1077628"/>
          <a:ext cx="7905604" cy="5587332"/>
        </p:xfrm>
        <a:graphic>
          <a:graphicData uri="http://schemas.openxmlformats.org/presentationml/2006/ole">
            <mc:AlternateContent xmlns:mc="http://schemas.openxmlformats.org/markup-compatibility/2006">
              <mc:Choice xmlns:v="urn:schemas-microsoft-com:vml" Requires="v">
                <p:oleObj name="Acrobat Document" r:id="rId3" imgW="6415686" imgH="4533492" progId="Acrobat.Document.DC">
                  <p:embed/>
                </p:oleObj>
              </mc:Choice>
              <mc:Fallback>
                <p:oleObj name="Acrobat Document" r:id="rId3" imgW="6415686" imgH="4533492" progId="Acrobat.Document.DC">
                  <p:embed/>
                  <p:pic>
                    <p:nvPicPr>
                      <p:cNvPr id="0" name=""/>
                      <p:cNvPicPr/>
                      <p:nvPr/>
                    </p:nvPicPr>
                    <p:blipFill>
                      <a:blip r:embed="rId4"/>
                      <a:stretch>
                        <a:fillRect/>
                      </a:stretch>
                    </p:blipFill>
                    <p:spPr>
                      <a:xfrm>
                        <a:off x="675957" y="1077628"/>
                        <a:ext cx="7905604" cy="5587332"/>
                      </a:xfrm>
                      <a:prstGeom prst="rect">
                        <a:avLst/>
                      </a:prstGeom>
                    </p:spPr>
                  </p:pic>
                </p:oleObj>
              </mc:Fallback>
            </mc:AlternateContent>
          </a:graphicData>
        </a:graphic>
      </p:graphicFrame>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graphicFrame>
        <p:nvGraphicFramePr>
          <p:cNvPr id="2" name="Object 1">
            <a:extLst>
              <a:ext uri="{FF2B5EF4-FFF2-40B4-BE49-F238E27FC236}">
                <a16:creationId xmlns:a16="http://schemas.microsoft.com/office/drawing/2014/main" id="{56B37814-6988-4E77-2547-E5E70E3BB94E}"/>
              </a:ext>
            </a:extLst>
          </p:cNvPr>
          <p:cNvGraphicFramePr>
            <a:graphicFrameLocks noChangeAspect="1"/>
          </p:cNvGraphicFramePr>
          <p:nvPr>
            <p:extLst>
              <p:ext uri="{D42A27DB-BD31-4B8C-83A1-F6EECF244321}">
                <p14:modId xmlns:p14="http://schemas.microsoft.com/office/powerpoint/2010/main" val="3978075473"/>
              </p:ext>
            </p:extLst>
          </p:nvPr>
        </p:nvGraphicFramePr>
        <p:xfrm>
          <a:off x="929550" y="1079211"/>
          <a:ext cx="7903365" cy="5585749"/>
        </p:xfrm>
        <a:graphic>
          <a:graphicData uri="http://schemas.openxmlformats.org/presentationml/2006/ole">
            <mc:AlternateContent xmlns:mc="http://schemas.openxmlformats.org/markup-compatibility/2006">
              <mc:Choice xmlns:v="urn:schemas-microsoft-com:vml" Requires="v">
                <p:oleObj name="Acrobat Document" r:id="rId3" imgW="6415686" imgH="4533492" progId="Acrobat.Document.DC">
                  <p:embed/>
                </p:oleObj>
              </mc:Choice>
              <mc:Fallback>
                <p:oleObj name="Acrobat Document" r:id="rId3" imgW="6415686" imgH="4533492" progId="Acrobat.Document.DC">
                  <p:embed/>
                  <p:pic>
                    <p:nvPicPr>
                      <p:cNvPr id="0" name=""/>
                      <p:cNvPicPr/>
                      <p:nvPr/>
                    </p:nvPicPr>
                    <p:blipFill>
                      <a:blip r:embed="rId4"/>
                      <a:stretch>
                        <a:fillRect/>
                      </a:stretch>
                    </p:blipFill>
                    <p:spPr>
                      <a:xfrm>
                        <a:off x="929550" y="1079211"/>
                        <a:ext cx="7903365" cy="5585749"/>
                      </a:xfrm>
                      <a:prstGeom prst="rect">
                        <a:avLst/>
                      </a:prstGeom>
                    </p:spPr>
                  </p:pic>
                </p:oleObj>
              </mc:Fallback>
            </mc:AlternateContent>
          </a:graphicData>
        </a:graphic>
      </p:graphicFrame>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555291" y="279968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71af3243-3dd4-4a8d-8c0d-dd76da1f02a5"/>
    <ds:schemaRef ds:uri="http://schemas.microsoft.com/office/2006/documentManagement/types"/>
    <ds:schemaRef ds:uri="http://purl.org/dc/elements/1.1/"/>
    <ds:schemaRef ds:uri="http://purl.org/dc/terms/"/>
    <ds:schemaRef ds:uri="16c05727-aa75-4e4a-9b5f-8a80a1165891"/>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568</TotalTime>
  <Words>450</Words>
  <Application>Microsoft Office PowerPoint</Application>
  <PresentationFormat>Widescreen</PresentationFormat>
  <Paragraphs>45</Paragraphs>
  <Slides>12</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9" baseType="lpstr">
      <vt:lpstr>Arial</vt:lpstr>
      <vt:lpstr>Calibri</vt:lpstr>
      <vt:lpstr>Trebuchet MS</vt:lpstr>
      <vt:lpstr>Wingdings</vt:lpstr>
      <vt:lpstr>Wingdings 3</vt:lpstr>
      <vt:lpstr>Facet</vt:lpstr>
      <vt:lpstr>Adobe Acrobat Document</vt:lpstr>
      <vt:lpstr> Airbnb Hotel Booking Analysis</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mohd tausif</cp:lastModifiedBy>
  <cp:revision>108</cp:revision>
  <dcterms:created xsi:type="dcterms:W3CDTF">2021-07-11T13:13:15Z</dcterms:created>
  <dcterms:modified xsi:type="dcterms:W3CDTF">2025-10-02T16:33:23Z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